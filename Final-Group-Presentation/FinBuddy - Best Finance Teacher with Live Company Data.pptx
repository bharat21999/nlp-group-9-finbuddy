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oppins" pitchFamily="2" charset="77"/>
      <p:regular r:id="rId11"/>
      <p:bold r:id="rId12"/>
      <p:italic r:id="rId13"/>
      <p:boldItalic r:id="rId14"/>
    </p:embeddedFont>
    <p:embeddedFont>
      <p:font typeface="Poppins Bold" pitchFamily="2" charset="7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70798" y="3764320"/>
            <a:ext cx="7945199" cy="3972599"/>
          </a:xfrm>
          <a:custGeom>
            <a:avLst/>
            <a:gdLst/>
            <a:ahLst/>
            <a:cxnLst/>
            <a:rect l="l" t="t" r="r" b="b"/>
            <a:pathLst>
              <a:path w="7945199" h="3972599">
                <a:moveTo>
                  <a:pt x="0" y="0"/>
                </a:moveTo>
                <a:lnTo>
                  <a:pt x="7945199" y="0"/>
                </a:lnTo>
                <a:lnTo>
                  <a:pt x="7945199" y="3972600"/>
                </a:lnTo>
                <a:lnTo>
                  <a:pt x="0" y="3972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20734" y="650405"/>
            <a:ext cx="16057666" cy="3400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27"/>
              </a:lnSpc>
            </a:pPr>
            <a:r>
              <a:rPr lang="en-US" sz="806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FinBuddy - Best Finance Teacher with Live Company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442" y="8442794"/>
            <a:ext cx="4074558" cy="1159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4"/>
              </a:lnSpc>
            </a:pPr>
            <a:r>
              <a:rPr lang="en-US" sz="275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NLP-FTP by:</a:t>
            </a:r>
          </a:p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75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Bharat Khandelwal</a:t>
            </a:r>
          </a:p>
          <a:p>
            <a:pPr algn="ctr">
              <a:lnSpc>
                <a:spcPts val="2944"/>
              </a:lnSpc>
              <a:spcBef>
                <a:spcPct val="0"/>
              </a:spcBef>
            </a:pPr>
            <a:endParaRPr lang="en-US" sz="275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630400" y="8442794"/>
            <a:ext cx="2628900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4"/>
              </a:lnSpc>
            </a:pPr>
            <a:r>
              <a:rPr lang="en-US" sz="275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Instructor :</a:t>
            </a:r>
          </a:p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75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Amir Jafari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57492" y="8786022"/>
            <a:ext cx="2129507" cy="463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3288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GROUP-9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9014" y="655045"/>
            <a:ext cx="4483288" cy="766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6"/>
              </a:lnSpc>
              <a:spcBef>
                <a:spcPct val="0"/>
              </a:spcBef>
            </a:pPr>
            <a:r>
              <a:rPr lang="en-US" sz="518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9933" y="2529380"/>
            <a:ext cx="15423046" cy="592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177" lvl="1" indent="-361588" algn="l">
              <a:lnSpc>
                <a:spcPts val="3584"/>
              </a:lnSpc>
              <a:buFont typeface="Arial"/>
              <a:buChar char="•"/>
            </a:pPr>
            <a:r>
              <a:rPr lang="en-US" sz="33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Scrapped financial terms and definitions using selenium.</a:t>
            </a:r>
          </a:p>
          <a:p>
            <a:pPr algn="l">
              <a:lnSpc>
                <a:spcPts val="3584"/>
              </a:lnSpc>
            </a:pPr>
            <a:endParaRPr lang="en-US" sz="334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23177" lvl="1" indent="-361588" algn="l">
              <a:lnSpc>
                <a:spcPts val="3584"/>
              </a:lnSpc>
              <a:buFont typeface="Arial"/>
              <a:buChar char="•"/>
            </a:pPr>
            <a:r>
              <a:rPr lang="en-US" sz="33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Created a fine tuning dataset of the form instruction and output.</a:t>
            </a:r>
          </a:p>
          <a:p>
            <a:pPr algn="l">
              <a:lnSpc>
                <a:spcPts val="3584"/>
              </a:lnSpc>
            </a:pPr>
            <a:endParaRPr lang="en-US" sz="334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23177" lvl="1" indent="-361588" algn="l">
              <a:lnSpc>
                <a:spcPts val="3584"/>
              </a:lnSpc>
              <a:buFont typeface="Arial"/>
              <a:buChar char="•"/>
            </a:pPr>
            <a:r>
              <a:rPr lang="en-US" sz="33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Fine tuned the model using QLoRA technique.</a:t>
            </a:r>
          </a:p>
          <a:p>
            <a:pPr algn="l">
              <a:lnSpc>
                <a:spcPts val="3584"/>
              </a:lnSpc>
            </a:pPr>
            <a:endParaRPr lang="en-US" sz="334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23177" lvl="1" indent="-361588" algn="l">
              <a:lnSpc>
                <a:spcPts val="3584"/>
              </a:lnSpc>
              <a:buFont typeface="Arial"/>
              <a:buChar char="•"/>
            </a:pPr>
            <a:r>
              <a:rPr lang="en-US" sz="33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Developed FAISS embeddings of company dataset with ticker symbols.</a:t>
            </a:r>
          </a:p>
          <a:p>
            <a:pPr algn="l">
              <a:lnSpc>
                <a:spcPts val="3584"/>
              </a:lnSpc>
            </a:pPr>
            <a:endParaRPr lang="en-US" sz="334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23177" lvl="1" indent="-361588" algn="l">
              <a:lnSpc>
                <a:spcPts val="3584"/>
              </a:lnSpc>
              <a:buFont typeface="Arial"/>
              <a:buChar char="•"/>
            </a:pPr>
            <a:r>
              <a:rPr lang="en-US" sz="33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a RAG pipeline to give live data about companies’s stocks data.</a:t>
            </a:r>
          </a:p>
          <a:p>
            <a:pPr algn="l">
              <a:lnSpc>
                <a:spcPts val="3584"/>
              </a:lnSpc>
            </a:pPr>
            <a:endParaRPr lang="en-US" sz="334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23177" lvl="1" indent="-361588" algn="l">
              <a:lnSpc>
                <a:spcPts val="3584"/>
              </a:lnSpc>
              <a:buFont typeface="Arial"/>
              <a:buChar char="•"/>
            </a:pPr>
            <a:r>
              <a:rPr lang="en-US" sz="33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Developed the chatbot with UI using StreamLit.</a:t>
            </a:r>
          </a:p>
          <a:p>
            <a:pPr algn="l">
              <a:lnSpc>
                <a:spcPts val="3584"/>
              </a:lnSpc>
            </a:pPr>
            <a:endParaRPr lang="en-US" sz="334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6596" y="2148987"/>
            <a:ext cx="14802545" cy="744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sz="34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lang="en-US" sz="34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Lightweight Yet Powerful</a:t>
            </a:r>
          </a:p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sz="34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Mistral 7B Instruct delivers competitive performance on par with larger models like LLaMA-2-13B while being significantly smaller, making it highly efficient for deployment on limited hardware.</a:t>
            </a:r>
          </a:p>
          <a:p>
            <a:pPr algn="just">
              <a:lnSpc>
                <a:spcPts val="3657"/>
              </a:lnSpc>
              <a:spcBef>
                <a:spcPct val="0"/>
              </a:spcBef>
            </a:pPr>
            <a:endParaRPr lang="en-US" sz="34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57"/>
              </a:lnSpc>
              <a:spcBef>
                <a:spcPct val="0"/>
              </a:spcBef>
            </a:pPr>
            <a:endParaRPr lang="en-US" sz="34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sz="34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34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Optimized for Instruction Following</a:t>
            </a:r>
          </a:p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sz="34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Mistral 7B Instruct excels at understanding and completing user instructions, making it ideal for chatbots, education tools, and task-oriented applications.</a:t>
            </a:r>
          </a:p>
          <a:p>
            <a:pPr algn="just">
              <a:lnSpc>
                <a:spcPts val="3657"/>
              </a:lnSpc>
              <a:spcBef>
                <a:spcPct val="0"/>
              </a:spcBef>
            </a:pPr>
            <a:endParaRPr lang="en-US" sz="34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57"/>
              </a:lnSpc>
              <a:spcBef>
                <a:spcPct val="0"/>
              </a:spcBef>
            </a:pPr>
            <a:endParaRPr lang="en-US" sz="34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sz="34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lang="en-US" sz="34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Open-Source and Customizable</a:t>
            </a:r>
          </a:p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sz="34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 an open-weight model, Mistral 7B Instruct allows full transparency and fine-tuning flexibility.</a:t>
            </a:r>
          </a:p>
          <a:p>
            <a:pPr algn="just">
              <a:lnSpc>
                <a:spcPts val="3657"/>
              </a:lnSpc>
              <a:spcBef>
                <a:spcPct val="0"/>
              </a:spcBef>
            </a:pPr>
            <a:endParaRPr lang="en-US" sz="34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172200" y="529510"/>
            <a:ext cx="5161649" cy="964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4"/>
              </a:lnSpc>
              <a:spcBef>
                <a:spcPct val="0"/>
              </a:spcBef>
            </a:pPr>
            <a:r>
              <a:rPr lang="en-US" sz="681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LLM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75190" y="828817"/>
            <a:ext cx="5083409" cy="87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21"/>
              </a:lnSpc>
              <a:spcBef>
                <a:spcPct val="0"/>
              </a:spcBef>
            </a:pPr>
            <a:r>
              <a:rPr lang="en-US" sz="6188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Fine Tuning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84831" y="2771532"/>
            <a:ext cx="14570259" cy="508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218" lvl="1" indent="-337609" algn="l">
              <a:lnSpc>
                <a:spcPts val="3346"/>
              </a:lnSpc>
              <a:buFont typeface="Arial"/>
              <a:buChar char="•"/>
            </a:pPr>
            <a:r>
              <a:rPr lang="en-US" sz="312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Trained the Mistral-7B-Instruct model using QLoRA to explain financial terms with child-friendly analogies and simple real-world examples.</a:t>
            </a:r>
          </a:p>
          <a:p>
            <a:pPr algn="l">
              <a:lnSpc>
                <a:spcPts val="3346"/>
              </a:lnSpc>
            </a:pPr>
            <a:endParaRPr lang="en-US" sz="3127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75218" lvl="1" indent="-337609" algn="l">
              <a:lnSpc>
                <a:spcPts val="3346"/>
              </a:lnSpc>
              <a:buFont typeface="Arial"/>
              <a:buChar char="•"/>
            </a:pPr>
            <a:r>
              <a:rPr lang="en-US" sz="312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Setup: Used ~3,200 curated prompt-response pairs with LoRA (Rank=16) and 4-bit quantization to fine-tune just 0.19% of model weights efficiently.</a:t>
            </a:r>
          </a:p>
          <a:p>
            <a:pPr algn="l">
              <a:lnSpc>
                <a:spcPts val="3346"/>
              </a:lnSpc>
            </a:pPr>
            <a:endParaRPr lang="en-US" sz="3127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75218" lvl="1" indent="-337609" algn="l">
              <a:lnSpc>
                <a:spcPts val="3346"/>
              </a:lnSpc>
              <a:buFont typeface="Arial"/>
              <a:buChar char="•"/>
            </a:pPr>
            <a:r>
              <a:rPr lang="en-US" sz="312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 Produced a lightweight, adapter-based model that retains core knowledge while adapting its teaching styleto be more accessible and engaging.</a:t>
            </a:r>
          </a:p>
          <a:p>
            <a:pPr algn="l">
              <a:lnSpc>
                <a:spcPts val="3346"/>
              </a:lnSpc>
            </a:pPr>
            <a:endParaRPr lang="en-US" sz="3127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98371" y="631056"/>
            <a:ext cx="3712622" cy="804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  <a:spcBef>
                <a:spcPct val="0"/>
              </a:spcBef>
            </a:pPr>
            <a:r>
              <a:rPr lang="en-US" sz="53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RAG SETUP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6215" y="1985257"/>
            <a:ext cx="15542211" cy="584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144" lvl="1" indent="-464072" algn="l">
              <a:lnSpc>
                <a:spcPts val="4599"/>
              </a:lnSpc>
              <a:buFont typeface="Arial"/>
              <a:buChar char="•"/>
            </a:pPr>
            <a:r>
              <a:rPr lang="en-US" sz="4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Downloaded the csv from stock Analysis for company names and it’s tickers.</a:t>
            </a:r>
          </a:p>
          <a:p>
            <a:pPr algn="l">
              <a:lnSpc>
                <a:spcPts val="4599"/>
              </a:lnSpc>
            </a:pPr>
            <a:endParaRPr lang="en-US" sz="429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8144" lvl="1" indent="-464072" algn="l">
              <a:lnSpc>
                <a:spcPts val="4599"/>
              </a:lnSpc>
              <a:buFont typeface="Arial"/>
              <a:buChar char="•"/>
            </a:pPr>
            <a:r>
              <a:rPr lang="en-US" sz="4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Created FAISS(Facebook AI Similarity Search) for matching the company names in the query to get the ticker and thus to extract data from Yahoo Finance.</a:t>
            </a:r>
          </a:p>
          <a:p>
            <a:pPr algn="l">
              <a:lnSpc>
                <a:spcPts val="4599"/>
              </a:lnSpc>
            </a:pPr>
            <a:endParaRPr lang="en-US" sz="429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8144" lvl="1" indent="-464072" algn="l">
              <a:lnSpc>
                <a:spcPts val="4599"/>
              </a:lnSpc>
              <a:buFont typeface="Arial"/>
              <a:buChar char="•"/>
            </a:pPr>
            <a:r>
              <a:rPr lang="en-US" sz="4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Summarizing using the LLM to give an explanation of the values that we see.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7038" y="2075058"/>
            <a:ext cx="6217926" cy="4120900"/>
          </a:xfrm>
          <a:custGeom>
            <a:avLst/>
            <a:gdLst/>
            <a:ahLst/>
            <a:cxnLst/>
            <a:rect l="l" t="t" r="r" b="b"/>
            <a:pathLst>
              <a:path w="6217926" h="4120900">
                <a:moveTo>
                  <a:pt x="0" y="0"/>
                </a:moveTo>
                <a:lnTo>
                  <a:pt x="6217926" y="0"/>
                </a:lnTo>
                <a:lnTo>
                  <a:pt x="6217926" y="4120900"/>
                </a:lnTo>
                <a:lnTo>
                  <a:pt x="0" y="412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493460" y="766462"/>
            <a:ext cx="6217926" cy="50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358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Rouge Score Comparison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78747" y="2218507"/>
            <a:ext cx="9004240" cy="6062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291" lvl="1" indent="-301146" algn="l">
              <a:lnSpc>
                <a:spcPts val="2984"/>
              </a:lnSpc>
              <a:buFont typeface="Arial"/>
              <a:buChar char="•"/>
            </a:pPr>
            <a:r>
              <a:rPr lang="en-US" sz="27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fine-tuned model showed a higher ROUGE-1 score (0.1356 vs. 0.1296), indicating better alignment with analogy-based reference phrases at the word level.</a:t>
            </a:r>
          </a:p>
          <a:p>
            <a:pPr algn="l">
              <a:lnSpc>
                <a:spcPts val="2984"/>
              </a:lnSpc>
            </a:pPr>
            <a:endParaRPr lang="en-US" sz="278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2291" lvl="1" indent="-301146" algn="l">
              <a:lnSpc>
                <a:spcPts val="2984"/>
              </a:lnSpc>
              <a:buFont typeface="Arial"/>
              <a:buChar char="•"/>
            </a:pPr>
            <a:r>
              <a:rPr lang="en-US" sz="27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suggests the model has started adopting the intended teaching style and vocabulary.</a:t>
            </a:r>
          </a:p>
          <a:p>
            <a:pPr algn="l">
              <a:lnSpc>
                <a:spcPts val="2984"/>
              </a:lnSpc>
            </a:pPr>
            <a:endParaRPr lang="en-US" sz="278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2291" lvl="1" indent="-301146" algn="l">
              <a:lnSpc>
                <a:spcPts val="2984"/>
              </a:lnSpc>
              <a:buFont typeface="Arial"/>
              <a:buChar char="•"/>
            </a:pPr>
            <a:r>
              <a:rPr lang="en-US" sz="27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Slight drops in ROUGE-2 and ROUGE-L reflect fewer bigram overlaps, may be due to the model rephrasing analogies or not fully completing them.</a:t>
            </a:r>
          </a:p>
          <a:p>
            <a:pPr algn="l">
              <a:lnSpc>
                <a:spcPts val="2984"/>
              </a:lnSpc>
            </a:pPr>
            <a:endParaRPr lang="en-US" sz="278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2291" lvl="1" indent="-301146" algn="l">
              <a:lnSpc>
                <a:spcPts val="2984"/>
              </a:lnSpc>
              <a:buFont typeface="Arial"/>
              <a:buChar char="•"/>
            </a:pPr>
            <a:r>
              <a:rPr lang="en-US" sz="27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Despite minor ROUGE dips, the fine-tuned model likely preserves conceptual clarity using different but valid expressions.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36820" y="2218507"/>
            <a:ext cx="12858034" cy="585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864" lvl="1" indent="-362432" algn="l">
              <a:lnSpc>
                <a:spcPts val="3592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fine-tuned model maintains a high BERTScore (F1: 0.8406), nearly matching the base model (F1: 0.8502), showing minimal loss in meaning despite changes in wording.</a:t>
            </a:r>
          </a:p>
          <a:p>
            <a:pPr algn="l">
              <a:lnSpc>
                <a:spcPts val="3592"/>
              </a:lnSpc>
            </a:pPr>
            <a:endParaRPr lang="en-US" sz="335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24864" lvl="1" indent="-362432" algn="l">
              <a:lnSpc>
                <a:spcPts val="3592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slight dip in BERTScore is expected as the fine-tuned model was trained to produce simpler, analogy-rich responses rather than precise text matches.</a:t>
            </a:r>
          </a:p>
          <a:p>
            <a:pPr algn="l">
              <a:lnSpc>
                <a:spcPts val="3592"/>
              </a:lnSpc>
            </a:pPr>
            <a:endParaRPr lang="en-US" sz="335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24864" lvl="1" indent="-362432" algn="l">
              <a:lnSpc>
                <a:spcPts val="3592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Confirms model still understands Finance concepts aligned with the goal of building a teaching-oriented AI assistant.</a:t>
            </a:r>
          </a:p>
          <a:p>
            <a:pPr algn="l">
              <a:lnSpc>
                <a:spcPts val="3592"/>
              </a:lnSpc>
            </a:pPr>
            <a:endParaRPr lang="en-US" sz="335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71580" y="3298332"/>
            <a:ext cx="5148159" cy="1252255"/>
          </a:xfrm>
          <a:custGeom>
            <a:avLst/>
            <a:gdLst/>
            <a:ahLst/>
            <a:cxnLst/>
            <a:rect l="l" t="t" r="r" b="b"/>
            <a:pathLst>
              <a:path w="5148159" h="1252255">
                <a:moveTo>
                  <a:pt x="0" y="0"/>
                </a:moveTo>
                <a:lnTo>
                  <a:pt x="5148160" y="0"/>
                </a:lnTo>
                <a:lnTo>
                  <a:pt x="5148160" y="1252255"/>
                </a:lnTo>
                <a:lnTo>
                  <a:pt x="0" y="1252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019800" y="766462"/>
            <a:ext cx="5429935" cy="50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358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Bert Score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58366" y="1771488"/>
            <a:ext cx="12211797" cy="7907139"/>
          </a:xfrm>
          <a:custGeom>
            <a:avLst/>
            <a:gdLst/>
            <a:ahLst/>
            <a:cxnLst/>
            <a:rect l="l" t="t" r="r" b="b"/>
            <a:pathLst>
              <a:path w="12211797" h="7907139">
                <a:moveTo>
                  <a:pt x="0" y="0"/>
                </a:moveTo>
                <a:lnTo>
                  <a:pt x="12211797" y="0"/>
                </a:lnTo>
                <a:lnTo>
                  <a:pt x="12211797" y="7907138"/>
                </a:lnTo>
                <a:lnTo>
                  <a:pt x="0" y="7907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620881" y="569381"/>
            <a:ext cx="3297874" cy="92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1"/>
              </a:lnSpc>
              <a:spcBef>
                <a:spcPct val="0"/>
              </a:spcBef>
            </a:pPr>
            <a:r>
              <a:rPr lang="en-US" sz="61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620881" y="569381"/>
            <a:ext cx="3297874" cy="92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1"/>
              </a:lnSpc>
              <a:spcBef>
                <a:spcPct val="0"/>
              </a:spcBef>
            </a:pPr>
            <a:r>
              <a:rPr lang="en-US" sz="61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F7AAE-7E4E-3B1C-27DD-5DC4AA31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866900"/>
            <a:ext cx="11582400" cy="7498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461</Words>
  <Application>Microsoft Macintosh PowerPoint</Application>
  <PresentationFormat>Custom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Poppins Bold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FinBuddy - Best Finance Teacher with Live Company Data</dc:title>
  <cp:lastModifiedBy>Khandelwal, Bharat S</cp:lastModifiedBy>
  <cp:revision>2</cp:revision>
  <dcterms:created xsi:type="dcterms:W3CDTF">2006-08-16T00:00:00Z</dcterms:created>
  <dcterms:modified xsi:type="dcterms:W3CDTF">2025-05-03T00:49:28Z</dcterms:modified>
  <dc:identifier>DAGmJNNa0WA</dc:identifier>
</cp:coreProperties>
</file>